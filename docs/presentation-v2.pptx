
<file path=[Content_Types].xml><?xml version="1.0" encoding="utf-8"?>
<Types xmlns="http://schemas.openxmlformats.org/package/2006/content-types">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extended-properties" Target="docProps/app.xml"/><Relationship Id="rId2" Type="http://schemas.openxmlformats.org/package/2006/relationships/metadata/core-properties" Target="docProps/core.xml"/><Relationship Id="rId3"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6"/>
    <p:sldId id="260" r:id="rId5"/>
    <p:sldId id="261" r:id="rId4"/>
    <p:sldId id="262" r:id="rId3"/>
    <p:sldId id="263" r:id="rId2"/>
    <p:sldId id="264" r:id="rId15"/>
    <p:sldId id="265" r:id="rId16"/>
    <p:sldId id="266" r:id="rId17"/>
  </p:sldIdLst>
  <p:notesMasterIdLst>
    <p:notesMasterId r:id="rId10"/>
  </p:notesMasterIdLst>
  <p:sldSz cx="12191695" cy="6858000"/>
  <p:notesSz cx="6858000" cy="12191695"/>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8.xml"/><Relationship Id="rId3" Type="http://schemas.openxmlformats.org/officeDocument/2006/relationships/slide" Target="slides/slide7.xml"/><Relationship Id="rId4" Type="http://schemas.openxmlformats.org/officeDocument/2006/relationships/slide" Target="slides/slide6.xml"/><Relationship Id="rId5" Type="http://schemas.openxmlformats.org/officeDocument/2006/relationships/slide" Target="slides/slide5.xml"/><Relationship Id="rId6" Type="http://schemas.openxmlformats.org/officeDocument/2006/relationships/slide" Target="slides/slide4.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notesMaster" Target="notesMasters/notesMaster1.xml"/><Relationship Id="rId11" Type="http://schemas.openxmlformats.org/officeDocument/2006/relationships/presProps" Target="presProps.xml"/><Relationship Id="rId12" Type="http://schemas.openxmlformats.org/officeDocument/2006/relationships/viewProps" Target="viewProps.xml"/><Relationship Id="rId13" Type="http://schemas.openxmlformats.org/officeDocument/2006/relationships/theme" Target="theme/theme1.xml"/><Relationship Id="rId14" Type="http://schemas.openxmlformats.org/officeDocument/2006/relationships/tableStyles" Target="tableStyles.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Hi, we're [FILL IN: our names], two students. We built [FILL IN: product name] in a five-hour window with Cline. It's a web app where a kid explains an idea to a confused AI, and we use that to show the teacher what didn't stick. We'll take you through the problem, the build, and one mistake that nearly fooled us.</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a lot of Indian classrooms, learning is rote. Kids memorise the answer, and we never check whether they actually understood. One teacher can have forty to sixty kids, sometimes several grades in one room. So the wrong ideas just sit there, hidden, until the exam.</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Our fix is a confused junior. The kid has to explain the concept in their own words, so we hear their real thinking instead of a memorised line. The junior asks one question at a time and never gives the answer away. We run it in English and Hindi.</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loop is short. The teacher pastes her notes and confirms them, then approves the concepts the kids will see. A kid logs in with a class code and a four-digit PIN, no email. And the switch student button clears the last kid's data, because these classrooms share one phone.</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We kept the stack boring on purpose. Next.js sixteen, TypeScript, and Tailwind on the front end. MongoDB through the native driver with Zod, no ORM. Every model call goes through the Cline API, and the coach runs on the Cline SDK.</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Every model ID lives in one file, models.ts. We use a strong model to grade answers and a cheap one for the junior's chat. The cline-pass models are our fallback when we run out of credits. Two jobs in that file, groupMisconceptions and visionPhoto, are defined but not wired yet.</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coach is the part we're proudest of. A teacher asks what to re-teach, and the coach reads her class data through five read-only tools. It can't write, edit, or browse the web. When we threw a prompt-injection attack at it, it refused and made zero tool calls.</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is what it looks like. [FILL IN: talk through the student chat screenshot]. That wrong idea, 'clouds are made of cotton', is real, straight from our concept data. [FILL IN: point to the dashboard and coach frames].</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was the mistake that nearly cost us an afternoon. We capped a test at five tokens, reasoning models spent all five tokens thinking, and we got back empty text. We nearly threw away a working model before we realised it was just starved for tokens. [FILL IN: one moment from the day].</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We want to be straight with you. The PIN is classroom-grade, not exam-grade. There's no offline mode, and no photo or PDF input. Our data is simulated, and we're not claiming any real-school results.</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We're [FILL IN: names and college]. [FILL IN: one line about each of us]. Thanks for listening.</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B1220"/>
        </a:solidFill>
        <a:effectLst/>
      </p:bgPr>
    </p:bg>
    <p:spTree>
      <p:nvGrpSpPr>
        <p:cNvPr id="1" name=""/>
        <p:cNvGrpSpPr/>
        <p:nvPr/>
      </p:nvGrpSpPr>
      <p:grpSpPr/>
      <p:sp>
        <p:nvSpPr>
          <p:cNvPr id="2" name="Rectangle 1"/>
          <p:cNvSpPr/>
          <p:nvPr/>
        </p:nvSpPr>
        <p:spPr>
          <a:xfrm>
            <a:off x="0" y="0"/>
            <a:ext cx="12191695" cy="164592"/>
          </a:xfrm>
          <a:prstGeom prst="rect">
            <a:avLst/>
          </a:prstGeom>
          <a:solidFill>
            <a:srgbClr val="1D4ED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1920240"/>
            <a:ext cx="10698480" cy="1188720"/>
          </a:xfrm>
          <a:prstGeom prst="rect">
            <a:avLst/>
          </a:prstGeom>
          <a:noFill/>
        </p:spPr>
        <p:txBody>
          <a:bodyPr wrap="square" anchor="t">
            <a:spAutoFit/>
          </a:bodyPr>
          <a:lstStyle/>
          <a:p>
            <a:pPr algn="l"/>
            <a:r>
              <a:rPr sz="5200" b="1">
                <a:solidFill>
                  <a:srgbClr val="FFFFFF"/>
                </a:solidFill>
                <a:latin typeface="Segoe UI"/>
              </a:rPr>
              <a:t>[FILL IN: product name]</a:t>
            </a:r>
          </a:p>
        </p:txBody>
      </p:sp>
      <p:sp>
        <p:nvSpPr>
          <p:cNvPr id="4" name="TextBox 3"/>
          <p:cNvSpPr txBox="1"/>
          <p:nvPr/>
        </p:nvSpPr>
        <p:spPr>
          <a:xfrm>
            <a:off x="731520" y="3429000"/>
            <a:ext cx="10698480" cy="914400"/>
          </a:xfrm>
          <a:prstGeom prst="rect">
            <a:avLst/>
          </a:prstGeom>
          <a:noFill/>
        </p:spPr>
        <p:txBody>
          <a:bodyPr wrap="square" anchor="t">
            <a:spAutoFit/>
          </a:bodyPr>
          <a:lstStyle/>
          <a:p>
            <a:pPr algn="l"/>
            <a:r>
              <a:rPr sz="2400" b="0">
                <a:solidFill>
                  <a:srgbClr val="93C5FD"/>
                </a:solidFill>
                <a:latin typeface="Segoe UI"/>
              </a:rPr>
              <a:t>Kids explain ideas to a confused AI. Teachers see what didn't stick.</a:t>
            </a:r>
          </a:p>
        </p:txBody>
      </p:sp>
      <p:sp>
        <p:nvSpPr>
          <p:cNvPr id="5" name="TextBox 4"/>
          <p:cNvSpPr txBox="1"/>
          <p:nvPr/>
        </p:nvSpPr>
        <p:spPr>
          <a:xfrm>
            <a:off x="731520" y="4434840"/>
            <a:ext cx="10698480" cy="457200"/>
          </a:xfrm>
          <a:prstGeom prst="rect">
            <a:avLst/>
          </a:prstGeom>
          <a:noFill/>
        </p:spPr>
        <p:txBody>
          <a:bodyPr wrap="square" anchor="t">
            <a:spAutoFit/>
          </a:bodyPr>
          <a:lstStyle/>
          <a:p>
            <a:pPr algn="l"/>
            <a:r>
              <a:rPr sz="1500" b="0">
                <a:solidFill>
                  <a:srgbClr val="9CA3AF"/>
                </a:solidFill>
                <a:latin typeface="Segoe UI"/>
              </a:rPr>
              <a:t>Two students   ·   Classes 3-12   ·   English and Hindi</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28016"/>
          </a:xfrm>
          <a:prstGeom prst="rect">
            <a:avLst/>
          </a:prstGeom>
          <a:solidFill>
            <a:srgbClr val="1D4ED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03504" y="502920"/>
            <a:ext cx="10972800" cy="868680"/>
          </a:xfrm>
          <a:prstGeom prst="rect">
            <a:avLst/>
          </a:prstGeom>
          <a:noFill/>
        </p:spPr>
        <p:txBody>
          <a:bodyPr wrap="square" anchor="t">
            <a:spAutoFit/>
          </a:bodyPr>
          <a:lstStyle/>
          <a:p>
            <a:pPr algn="l"/>
            <a:r>
              <a:rPr sz="3400" b="1">
                <a:solidFill>
                  <a:srgbClr val="111827"/>
                </a:solidFill>
                <a:latin typeface="Segoe UI"/>
              </a:rPr>
              <a:t>The problem</a:t>
            </a:r>
          </a:p>
        </p:txBody>
      </p:sp>
      <p:sp>
        <p:nvSpPr>
          <p:cNvPr id="4" name="TextBox 3"/>
          <p:cNvSpPr txBox="1"/>
          <p:nvPr/>
        </p:nvSpPr>
        <p:spPr>
          <a:xfrm>
            <a:off x="822960" y="1874519"/>
            <a:ext cx="10607040" cy="4023360"/>
          </a:xfrm>
          <a:prstGeom prst="rect">
            <a:avLst/>
          </a:prstGeom>
          <a:noFill/>
        </p:spPr>
        <p:txBody>
          <a:bodyPr wrap="square">
            <a:spAutoFit/>
          </a:bodyPr>
          <a:lstStyle/>
          <a:p>
            <a:pPr>
              <a:lnSpc>
                <a:spcPct val="112000"/>
              </a:lnSpc>
              <a:spcAft>
                <a:spcPts val="1800"/>
              </a:spcAft>
            </a:pPr>
            <a:r>
              <a:rPr sz="2200" b="1">
                <a:solidFill>
                  <a:srgbClr val="1D4ED8"/>
                </a:solidFill>
                <a:latin typeface="Segoe UI"/>
              </a:rPr>
              <a:t>•  </a:t>
            </a:r>
            <a:r>
              <a:rPr sz="2200" b="0">
                <a:solidFill>
                  <a:srgbClr val="111827"/>
                </a:solidFill>
                <a:latin typeface="Segoe UI"/>
              </a:rPr>
              <a:t>Learning is rote. Kids memorise, we never check understanding.</a:t>
            </a:r>
          </a:p>
          <a:p>
            <a:pPr>
              <a:lnSpc>
                <a:spcPct val="112000"/>
              </a:lnSpc>
              <a:spcAft>
                <a:spcPts val="1800"/>
              </a:spcAft>
            </a:pPr>
            <a:r>
              <a:rPr sz="2200" b="1">
                <a:solidFill>
                  <a:srgbClr val="1D4ED8"/>
                </a:solidFill>
                <a:latin typeface="Segoe UI"/>
              </a:rPr>
              <a:t>•  </a:t>
            </a:r>
            <a:r>
              <a:rPr sz="2200" b="0">
                <a:solidFill>
                  <a:srgbClr val="111827"/>
                </a:solidFill>
                <a:latin typeface="Segoe UI"/>
              </a:rPr>
              <a:t>One teacher handles 40-60 kids, sometimes several grades.</a:t>
            </a:r>
          </a:p>
          <a:p>
            <a:pPr>
              <a:lnSpc>
                <a:spcPct val="112000"/>
              </a:lnSpc>
              <a:spcAft>
                <a:spcPts val="1800"/>
              </a:spcAft>
            </a:pPr>
            <a:r>
              <a:rPr sz="2200" b="1">
                <a:solidFill>
                  <a:srgbClr val="1D4ED8"/>
                </a:solidFill>
                <a:latin typeface="Segoe UI"/>
              </a:rPr>
              <a:t>•  </a:t>
            </a:r>
            <a:r>
              <a:rPr sz="2200" b="0">
                <a:solidFill>
                  <a:srgbClr val="111827"/>
                </a:solidFill>
                <a:latin typeface="Segoe UI"/>
              </a:rPr>
              <a:t>Wrong ideas hide until the exam shows the gap.</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28016"/>
          </a:xfrm>
          <a:prstGeom prst="rect">
            <a:avLst/>
          </a:prstGeom>
          <a:solidFill>
            <a:srgbClr val="1D4ED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03504" y="502920"/>
            <a:ext cx="10972800" cy="868680"/>
          </a:xfrm>
          <a:prstGeom prst="rect">
            <a:avLst/>
          </a:prstGeom>
          <a:noFill/>
        </p:spPr>
        <p:txBody>
          <a:bodyPr wrap="square" anchor="t">
            <a:spAutoFit/>
          </a:bodyPr>
          <a:lstStyle/>
          <a:p>
            <a:pPr algn="l"/>
            <a:r>
              <a:rPr sz="3400" b="1">
                <a:solidFill>
                  <a:srgbClr val="111827"/>
                </a:solidFill>
                <a:latin typeface="Segoe UI"/>
              </a:rPr>
              <a:t>The idea</a:t>
            </a:r>
          </a:p>
        </p:txBody>
      </p:sp>
      <p:sp>
        <p:nvSpPr>
          <p:cNvPr id="4" name="TextBox 3"/>
          <p:cNvSpPr txBox="1"/>
          <p:nvPr/>
        </p:nvSpPr>
        <p:spPr>
          <a:xfrm>
            <a:off x="822960" y="1874519"/>
            <a:ext cx="10607040" cy="4023360"/>
          </a:xfrm>
          <a:prstGeom prst="rect">
            <a:avLst/>
          </a:prstGeom>
          <a:noFill/>
        </p:spPr>
        <p:txBody>
          <a:bodyPr wrap="square">
            <a:spAutoFit/>
          </a:bodyPr>
          <a:lstStyle/>
          <a:p>
            <a:pPr>
              <a:lnSpc>
                <a:spcPct val="112000"/>
              </a:lnSpc>
              <a:spcAft>
                <a:spcPts val="1800"/>
              </a:spcAft>
            </a:pPr>
            <a:r>
              <a:rPr sz="2200" b="1">
                <a:solidFill>
                  <a:srgbClr val="1D4ED8"/>
                </a:solidFill>
                <a:latin typeface="Segoe UI"/>
              </a:rPr>
              <a:t>•  </a:t>
            </a:r>
            <a:r>
              <a:rPr sz="2200" b="0">
                <a:solidFill>
                  <a:srgbClr val="111827"/>
                </a:solidFill>
                <a:latin typeface="Segoe UI"/>
              </a:rPr>
              <a:t>Kids explain a concept in their own words.</a:t>
            </a:r>
          </a:p>
          <a:p>
            <a:pPr>
              <a:lnSpc>
                <a:spcPct val="112000"/>
              </a:lnSpc>
              <a:spcAft>
                <a:spcPts val="1800"/>
              </a:spcAft>
            </a:pPr>
            <a:r>
              <a:rPr sz="2200" b="1">
                <a:solidFill>
                  <a:srgbClr val="1D4ED8"/>
                </a:solidFill>
                <a:latin typeface="Segoe UI"/>
              </a:rPr>
              <a:t>•  </a:t>
            </a:r>
            <a:r>
              <a:rPr sz="2200" b="0">
                <a:solidFill>
                  <a:srgbClr val="111827"/>
                </a:solidFill>
                <a:latin typeface="Segoe UI"/>
              </a:rPr>
              <a:t>The junior asks one question and never answers.</a:t>
            </a:r>
          </a:p>
          <a:p>
            <a:pPr>
              <a:lnSpc>
                <a:spcPct val="112000"/>
              </a:lnSpc>
              <a:spcAft>
                <a:spcPts val="1800"/>
              </a:spcAft>
            </a:pPr>
            <a:r>
              <a:rPr sz="2200" b="1">
                <a:solidFill>
                  <a:srgbClr val="1D4ED8"/>
                </a:solidFill>
                <a:latin typeface="Segoe UI"/>
              </a:rPr>
              <a:t>•  </a:t>
            </a:r>
            <a:r>
              <a:rPr sz="2200" b="0">
                <a:solidFill>
                  <a:srgbClr val="111827"/>
                </a:solidFill>
                <a:latin typeface="Segoe UI"/>
              </a:rPr>
              <a:t>We run it in English and Hindi.</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28016"/>
          </a:xfrm>
          <a:prstGeom prst="rect">
            <a:avLst/>
          </a:prstGeom>
          <a:solidFill>
            <a:srgbClr val="1D4ED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03504" y="502920"/>
            <a:ext cx="10972800" cy="868680"/>
          </a:xfrm>
          <a:prstGeom prst="rect">
            <a:avLst/>
          </a:prstGeom>
          <a:noFill/>
        </p:spPr>
        <p:txBody>
          <a:bodyPr wrap="square" anchor="t">
            <a:spAutoFit/>
          </a:bodyPr>
          <a:lstStyle/>
          <a:p>
            <a:pPr algn="l"/>
            <a:r>
              <a:rPr sz="3400" b="1">
                <a:solidFill>
                  <a:srgbClr val="111827"/>
                </a:solidFill>
                <a:latin typeface="Segoe UI"/>
              </a:rPr>
              <a:t>How it works</a:t>
            </a:r>
          </a:p>
        </p:txBody>
      </p:sp>
      <p:sp>
        <p:nvSpPr>
          <p:cNvPr id="4" name="TextBox 3"/>
          <p:cNvSpPr txBox="1"/>
          <p:nvPr/>
        </p:nvSpPr>
        <p:spPr>
          <a:xfrm>
            <a:off x="822960" y="1874519"/>
            <a:ext cx="10607040" cy="4023360"/>
          </a:xfrm>
          <a:prstGeom prst="rect">
            <a:avLst/>
          </a:prstGeom>
          <a:noFill/>
        </p:spPr>
        <p:txBody>
          <a:bodyPr wrap="square">
            <a:spAutoFit/>
          </a:bodyPr>
          <a:lstStyle/>
          <a:p>
            <a:pPr>
              <a:lnSpc>
                <a:spcPct val="112000"/>
              </a:lnSpc>
              <a:spcAft>
                <a:spcPts val="1800"/>
              </a:spcAft>
            </a:pPr>
            <a:r>
              <a:rPr sz="2200" b="1">
                <a:solidFill>
                  <a:srgbClr val="1D4ED8"/>
                </a:solidFill>
                <a:latin typeface="Segoe UI"/>
              </a:rPr>
              <a:t>•  </a:t>
            </a:r>
            <a:r>
              <a:rPr sz="2200" b="0">
                <a:solidFill>
                  <a:srgbClr val="111827"/>
                </a:solidFill>
                <a:latin typeface="Segoe UI"/>
              </a:rPr>
              <a:t>A teacher pastes notes and confirms them.</a:t>
            </a:r>
          </a:p>
          <a:p>
            <a:pPr>
              <a:lnSpc>
                <a:spcPct val="112000"/>
              </a:lnSpc>
              <a:spcAft>
                <a:spcPts val="1800"/>
              </a:spcAft>
            </a:pPr>
            <a:r>
              <a:rPr sz="2200" b="1">
                <a:solidFill>
                  <a:srgbClr val="1D4ED8"/>
                </a:solidFill>
                <a:latin typeface="Segoe UI"/>
              </a:rPr>
              <a:t>•  </a:t>
            </a:r>
            <a:r>
              <a:rPr sz="2200" b="0">
                <a:solidFill>
                  <a:srgbClr val="111827"/>
                </a:solidFill>
                <a:latin typeface="Segoe UI"/>
              </a:rPr>
              <a:t>She approves the concepts kids will explain.</a:t>
            </a:r>
          </a:p>
          <a:p>
            <a:pPr>
              <a:lnSpc>
                <a:spcPct val="112000"/>
              </a:lnSpc>
              <a:spcAft>
                <a:spcPts val="1800"/>
              </a:spcAft>
            </a:pPr>
            <a:r>
              <a:rPr sz="2200" b="1">
                <a:solidFill>
                  <a:srgbClr val="1D4ED8"/>
                </a:solidFill>
                <a:latin typeface="Segoe UI"/>
              </a:rPr>
              <a:t>•  </a:t>
            </a:r>
            <a:r>
              <a:rPr sz="2200" b="0">
                <a:solidFill>
                  <a:srgbClr val="111827"/>
                </a:solidFill>
                <a:latin typeface="Segoe UI"/>
              </a:rPr>
              <a:t>Switch student clears the last kid's data.</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28016"/>
          </a:xfrm>
          <a:prstGeom prst="rect">
            <a:avLst/>
          </a:prstGeom>
          <a:solidFill>
            <a:srgbClr val="1D4ED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03504" y="502920"/>
            <a:ext cx="10972800" cy="868680"/>
          </a:xfrm>
          <a:prstGeom prst="rect">
            <a:avLst/>
          </a:prstGeom>
          <a:noFill/>
        </p:spPr>
        <p:txBody>
          <a:bodyPr wrap="square" anchor="t">
            <a:spAutoFit/>
          </a:bodyPr>
          <a:lstStyle/>
          <a:p>
            <a:pPr algn="l"/>
            <a:r>
              <a:rPr sz="3400" b="1">
                <a:solidFill>
                  <a:srgbClr val="111827"/>
                </a:solidFill>
                <a:latin typeface="Segoe UI"/>
              </a:rPr>
              <a:t>How we built it</a:t>
            </a:r>
          </a:p>
        </p:txBody>
      </p:sp>
      <p:sp>
        <p:nvSpPr>
          <p:cNvPr id="4" name="TextBox 3"/>
          <p:cNvSpPr txBox="1"/>
          <p:nvPr/>
        </p:nvSpPr>
        <p:spPr>
          <a:xfrm>
            <a:off x="822960" y="1874519"/>
            <a:ext cx="10607040" cy="4023360"/>
          </a:xfrm>
          <a:prstGeom prst="rect">
            <a:avLst/>
          </a:prstGeom>
          <a:noFill/>
        </p:spPr>
        <p:txBody>
          <a:bodyPr wrap="square">
            <a:spAutoFit/>
          </a:bodyPr>
          <a:lstStyle/>
          <a:p>
            <a:pPr>
              <a:lnSpc>
                <a:spcPct val="112000"/>
              </a:lnSpc>
              <a:spcAft>
                <a:spcPts val="1800"/>
              </a:spcAft>
            </a:pPr>
            <a:r>
              <a:rPr sz="2200" b="1">
                <a:solidFill>
                  <a:srgbClr val="1D4ED8"/>
                </a:solidFill>
                <a:latin typeface="Segoe UI"/>
              </a:rPr>
              <a:t>•  </a:t>
            </a:r>
            <a:r>
              <a:rPr sz="2200" b="0">
                <a:solidFill>
                  <a:srgbClr val="111827"/>
                </a:solidFill>
                <a:latin typeface="Segoe UI"/>
              </a:rPr>
              <a:t>Next.js 16, TypeScript, and Tailwind.</a:t>
            </a:r>
          </a:p>
          <a:p>
            <a:pPr>
              <a:lnSpc>
                <a:spcPct val="112000"/>
              </a:lnSpc>
              <a:spcAft>
                <a:spcPts val="1800"/>
              </a:spcAft>
            </a:pPr>
            <a:r>
              <a:rPr sz="2200" b="1">
                <a:solidFill>
                  <a:srgbClr val="1D4ED8"/>
                </a:solidFill>
                <a:latin typeface="Segoe UI"/>
              </a:rPr>
              <a:t>•  </a:t>
            </a:r>
            <a:r>
              <a:rPr sz="2200" b="0">
                <a:solidFill>
                  <a:srgbClr val="111827"/>
                </a:solidFill>
                <a:latin typeface="Segoe UI"/>
              </a:rPr>
              <a:t>MongoDB with the native driver and Zod. No ORM.</a:t>
            </a:r>
          </a:p>
          <a:p>
            <a:pPr>
              <a:lnSpc>
                <a:spcPct val="112000"/>
              </a:lnSpc>
              <a:spcAft>
                <a:spcPts val="1800"/>
              </a:spcAft>
            </a:pPr>
            <a:r>
              <a:rPr sz="2200" b="1">
                <a:solidFill>
                  <a:srgbClr val="1D4ED8"/>
                </a:solidFill>
                <a:latin typeface="Segoe UI"/>
              </a:rPr>
              <a:t>•  </a:t>
            </a:r>
            <a:r>
              <a:rPr sz="2200" b="0">
                <a:solidFill>
                  <a:srgbClr val="111827"/>
                </a:solidFill>
                <a:latin typeface="Segoe UI"/>
              </a:rPr>
              <a:t>Cline API for models, Cline SDK for the coach.</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28016"/>
          </a:xfrm>
          <a:prstGeom prst="rect">
            <a:avLst/>
          </a:prstGeom>
          <a:solidFill>
            <a:srgbClr val="1D4ED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03504" y="502920"/>
            <a:ext cx="10972800" cy="868680"/>
          </a:xfrm>
          <a:prstGeom prst="rect">
            <a:avLst/>
          </a:prstGeom>
          <a:noFill/>
        </p:spPr>
        <p:txBody>
          <a:bodyPr wrap="square" anchor="t">
            <a:spAutoFit/>
          </a:bodyPr>
          <a:lstStyle/>
          <a:p>
            <a:pPr algn="l"/>
            <a:r>
              <a:rPr sz="3400" b="1">
                <a:solidFill>
                  <a:srgbClr val="111827"/>
                </a:solidFill>
                <a:latin typeface="Segoe UI"/>
              </a:rPr>
              <a:t>The models</a:t>
            </a:r>
          </a:p>
        </p:txBody>
      </p:sp>
      <p:graphicFrame>
        <p:nvGraphicFramePr>
          <p:cNvPr id="4" name="Table 3"/>
          <p:cNvGraphicFramePr>
            <a:graphicFrameLocks noGrp="1"/>
          </p:cNvGraphicFramePr>
          <p:nvPr/>
        </p:nvGraphicFramePr>
        <p:xfrm>
          <a:off x="603504" y="1737360"/>
          <a:ext cx="10972800" cy="1828800"/>
        </p:xfrm>
        <a:graphic>
          <a:graphicData uri="http://schemas.openxmlformats.org/drawingml/2006/table">
            <a:tbl>
              <a:tblPr firstRow="1">
                <a:tableStyleId>{5C22544A-7EE6-4342-B048-85BDC9FD1C3A}</a:tableStyleId>
              </a:tblPr>
              <a:tblGrid>
                <a:gridCol w="2743200"/>
                <a:gridCol w="4114800"/>
                <a:gridCol w="4114800"/>
              </a:tblGrid>
              <a:tr h="365760">
                <a:tc>
                  <a:txBody>
                    <a:bodyPr wrap="square"/>
                    <a:lstStyle/>
                    <a:p>
                      <a:r>
                        <a:rPr sz="1500" b="1">
                          <a:solidFill>
                            <a:srgbClr val="FFFFFF"/>
                          </a:solidFill>
                          <a:latin typeface="Segoe UI"/>
                        </a:rPr>
                        <a:t>Job</a:t>
                      </a:r>
                    </a:p>
                  </a:txBody>
                  <a:tcPr marL="109728" marT="36576" marB="36576">
                    <a:solidFill>
                      <a:srgbClr val="1D4ED8"/>
                    </a:solidFill>
                  </a:tcPr>
                </a:tc>
                <a:tc>
                  <a:txBody>
                    <a:bodyPr wrap="square"/>
                    <a:lstStyle/>
                    <a:p>
                      <a:r>
                        <a:rPr sz="1500" b="1">
                          <a:solidFill>
                            <a:srgbClr val="FFFFFF"/>
                          </a:solidFill>
                          <a:latin typeface="Segoe UI"/>
                        </a:rPr>
                        <a:t>Model</a:t>
                      </a:r>
                    </a:p>
                  </a:txBody>
                  <a:tcPr marL="109728" marT="36576" marB="36576">
                    <a:solidFill>
                      <a:srgbClr val="1D4ED8"/>
                    </a:solidFill>
                  </a:tcPr>
                </a:tc>
                <a:tc>
                  <a:txBody>
                    <a:bodyPr wrap="square"/>
                    <a:lstStyle/>
                    <a:p>
                      <a:r>
                        <a:rPr sz="1500" b="1">
                          <a:solidFill>
                            <a:srgbClr val="FFFFFF"/>
                          </a:solidFill>
                          <a:latin typeface="Segoe UI"/>
                        </a:rPr>
                        <a:t>Fallback</a:t>
                      </a:r>
                    </a:p>
                  </a:txBody>
                  <a:tcPr marL="109728" marT="36576" marB="36576">
                    <a:solidFill>
                      <a:srgbClr val="1D4ED8"/>
                    </a:solidFill>
                  </a:tcPr>
                </a:tc>
              </a:tr>
              <a:tr h="365760">
                <a:tc>
                  <a:txBody>
                    <a:bodyPr wrap="square"/>
                    <a:lstStyle/>
                    <a:p>
                      <a:r>
                        <a:rPr sz="1300" b="0">
                          <a:solidFill>
                            <a:srgbClr val="111827"/>
                          </a:solidFill>
                          <a:latin typeface="Segoe UI"/>
                        </a:rPr>
                        <a:t>Extract concepts</a:t>
                      </a:r>
                    </a:p>
                  </a:txBody>
                  <a:tcPr marL="109728" marT="27432" marB="27432">
                    <a:solidFill>
                      <a:srgbClr val="FFFFFF"/>
                    </a:solidFill>
                  </a:tcPr>
                </a:tc>
                <a:tc>
                  <a:txBody>
                    <a:bodyPr wrap="square"/>
                    <a:lstStyle/>
                    <a:p>
                      <a:r>
                        <a:rPr sz="1300" b="0">
                          <a:solidFill>
                            <a:srgbClr val="111827"/>
                          </a:solidFill>
                          <a:latin typeface="Segoe UI"/>
                        </a:rPr>
                        <a:t>anthropic/claude-sonnet-5.5</a:t>
                      </a:r>
                    </a:p>
                  </a:txBody>
                  <a:tcPr marL="109728" marT="27432" marB="27432">
                    <a:solidFill>
                      <a:srgbClr val="FFFFFF"/>
                    </a:solidFill>
                  </a:tcPr>
                </a:tc>
                <a:tc>
                  <a:txBody>
                    <a:bodyPr wrap="square"/>
                    <a:lstStyle/>
                    <a:p>
                      <a:r>
                        <a:rPr sz="1300" b="0">
                          <a:solidFill>
                            <a:srgbClr val="111827"/>
                          </a:solidFill>
                          <a:latin typeface="Segoe UI"/>
                        </a:rPr>
                        <a:t>google/gemini-2.5-pro</a:t>
                      </a:r>
                    </a:p>
                  </a:txBody>
                  <a:tcPr marL="109728" marT="27432" marB="27432">
                    <a:solidFill>
                      <a:srgbClr val="FFFFFF"/>
                    </a:solidFill>
                  </a:tcPr>
                </a:tc>
              </a:tr>
              <a:tr h="365760">
                <a:tc>
                  <a:txBody>
                    <a:bodyPr wrap="square"/>
                    <a:lstStyle/>
                    <a:p>
                      <a:r>
                        <a:rPr sz="1300" b="0">
                          <a:solidFill>
                            <a:srgbClr val="111827"/>
                          </a:solidFill>
                          <a:latin typeface="Segoe UI"/>
                        </a:rPr>
                        <a:t>Junior turn</a:t>
                      </a:r>
                    </a:p>
                  </a:txBody>
                  <a:tcPr marL="109728" marT="27432" marB="27432">
                    <a:solidFill>
                      <a:srgbClr val="F1F5F9"/>
                    </a:solidFill>
                  </a:tcPr>
                </a:tc>
                <a:tc>
                  <a:txBody>
                    <a:bodyPr wrap="square"/>
                    <a:lstStyle/>
                    <a:p>
                      <a:r>
                        <a:rPr sz="1300" b="0">
                          <a:solidFill>
                            <a:srgbClr val="111827"/>
                          </a:solidFill>
                          <a:latin typeface="Segoe UI"/>
                        </a:rPr>
                        <a:t>google/gemini-2.5-flash</a:t>
                      </a:r>
                    </a:p>
                  </a:txBody>
                  <a:tcPr marL="109728" marT="27432" marB="27432">
                    <a:solidFill>
                      <a:srgbClr val="F1F5F9"/>
                    </a:solidFill>
                  </a:tcPr>
                </a:tc>
                <a:tc>
                  <a:txBody>
                    <a:bodyPr wrap="square"/>
                    <a:lstStyle/>
                    <a:p>
                      <a:r>
                        <a:rPr sz="1300" b="0">
                          <a:solidFill>
                            <a:srgbClr val="111827"/>
                          </a:solidFill>
                          <a:latin typeface="Segoe UI"/>
                        </a:rPr>
                        <a:t>cline-pass/deepseek-v4.1-flash</a:t>
                      </a:r>
                    </a:p>
                  </a:txBody>
                  <a:tcPr marL="109728" marT="27432" marB="27432">
                    <a:solidFill>
                      <a:srgbClr val="F1F5F9"/>
                    </a:solidFill>
                  </a:tcPr>
                </a:tc>
              </a:tr>
              <a:tr h="365760">
                <a:tc>
                  <a:txBody>
                    <a:bodyPr wrap="square"/>
                    <a:lstStyle/>
                    <a:p>
                      <a:r>
                        <a:rPr sz="1300" b="0">
                          <a:solidFill>
                            <a:srgbClr val="111827"/>
                          </a:solidFill>
                          <a:latin typeface="Segoe UI"/>
                        </a:rPr>
                        <a:t>Evaluate chat</a:t>
                      </a:r>
                    </a:p>
                  </a:txBody>
                  <a:tcPr marL="109728" marT="27432" marB="27432">
                    <a:solidFill>
                      <a:srgbClr val="FFFFFF"/>
                    </a:solidFill>
                  </a:tcPr>
                </a:tc>
                <a:tc>
                  <a:txBody>
                    <a:bodyPr wrap="square"/>
                    <a:lstStyle/>
                    <a:p>
                      <a:r>
                        <a:rPr sz="1300" b="0">
                          <a:solidFill>
                            <a:srgbClr val="111827"/>
                          </a:solidFill>
                          <a:latin typeface="Segoe UI"/>
                        </a:rPr>
                        <a:t>anthropic/claude-sonnet-5.5</a:t>
                      </a:r>
                    </a:p>
                  </a:txBody>
                  <a:tcPr marL="109728" marT="27432" marB="27432">
                    <a:solidFill>
                      <a:srgbClr val="FFFFFF"/>
                    </a:solidFill>
                  </a:tcPr>
                </a:tc>
                <a:tc>
                  <a:txBody>
                    <a:bodyPr wrap="square"/>
                    <a:lstStyle/>
                    <a:p>
                      <a:r>
                        <a:rPr sz="1300" b="0">
                          <a:solidFill>
                            <a:srgbClr val="111827"/>
                          </a:solidFill>
                          <a:latin typeface="Segoe UI"/>
                        </a:rPr>
                        <a:t>google/gemini-2.5-pro</a:t>
                      </a:r>
                    </a:p>
                  </a:txBody>
                  <a:tcPr marL="109728" marT="27432" marB="27432">
                    <a:solidFill>
                      <a:srgbClr val="FFFFFF"/>
                    </a:solidFill>
                  </a:tcPr>
                </a:tc>
              </a:tr>
              <a:tr h="365760">
                <a:tc>
                  <a:txBody>
                    <a:bodyPr wrap="square"/>
                    <a:lstStyle/>
                    <a:p>
                      <a:r>
                        <a:rPr sz="1300" b="0">
                          <a:solidFill>
                            <a:srgbClr val="111827"/>
                          </a:solidFill>
                          <a:latin typeface="Segoe UI"/>
                        </a:rPr>
                        <a:t>Teacher coach</a:t>
                      </a:r>
                    </a:p>
                  </a:txBody>
                  <a:tcPr marL="109728" marT="27432" marB="27432">
                    <a:solidFill>
                      <a:srgbClr val="F1F5F9"/>
                    </a:solidFill>
                  </a:tcPr>
                </a:tc>
                <a:tc>
                  <a:txBody>
                    <a:bodyPr wrap="square"/>
                    <a:lstStyle/>
                    <a:p>
                      <a:r>
                        <a:rPr sz="1300" b="0">
                          <a:solidFill>
                            <a:srgbClr val="111827"/>
                          </a:solidFill>
                          <a:latin typeface="Segoe UI"/>
                        </a:rPr>
                        <a:t>cline-pass/glm-5.3</a:t>
                      </a:r>
                    </a:p>
                  </a:txBody>
                  <a:tcPr marL="109728" marT="27432" marB="27432">
                    <a:solidFill>
                      <a:srgbClr val="F1F5F9"/>
                    </a:solidFill>
                  </a:tcPr>
                </a:tc>
                <a:tc>
                  <a:txBody>
                    <a:bodyPr wrap="square"/>
                    <a:lstStyle/>
                    <a:p>
                      <a:r>
                        <a:rPr sz="1300" b="0">
                          <a:solidFill>
                            <a:srgbClr val="111827"/>
                          </a:solidFill>
                          <a:latin typeface="Segoe UI"/>
                        </a:rPr>
                        <a:t>anthropic/claude-haiku-5.5</a:t>
                      </a:r>
                    </a:p>
                  </a:txBody>
                  <a:tcPr marL="109728" marT="27432" marB="27432">
                    <a:solidFill>
                      <a:srgbClr val="F1F5F9"/>
                    </a:solidFill>
                  </a:tcPr>
                </a:tc>
              </a:tr>
            </a:tbl>
          </a:graphicData>
        </a:graphic>
      </p:graphicFrame>
      <p:sp>
        <p:nvSpPr>
          <p:cNvPr id="5" name="TextBox 4"/>
          <p:cNvSpPr txBox="1"/>
          <p:nvPr/>
        </p:nvSpPr>
        <p:spPr>
          <a:xfrm>
            <a:off x="603504" y="4572000"/>
            <a:ext cx="10972800" cy="457200"/>
          </a:xfrm>
          <a:prstGeom prst="rect">
            <a:avLst/>
          </a:prstGeom>
          <a:noFill/>
        </p:spPr>
        <p:txBody>
          <a:bodyPr wrap="square" anchor="t">
            <a:spAutoFit/>
          </a:bodyPr>
          <a:lstStyle/>
          <a:p>
            <a:pPr algn="l"/>
            <a:r>
              <a:rPr sz="1500" b="0">
                <a:solidFill>
                  <a:srgbClr val="6B7280"/>
                </a:solidFill>
                <a:latin typeface="Segoe UI"/>
              </a:rPr>
              <a:t>groupMisconceptions and visionPhoto are defined but not wired yet.</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28016"/>
          </a:xfrm>
          <a:prstGeom prst="rect">
            <a:avLst/>
          </a:prstGeom>
          <a:solidFill>
            <a:srgbClr val="1D4ED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03504" y="502920"/>
            <a:ext cx="10972800" cy="868680"/>
          </a:xfrm>
          <a:prstGeom prst="rect">
            <a:avLst/>
          </a:prstGeom>
          <a:noFill/>
        </p:spPr>
        <p:txBody>
          <a:bodyPr wrap="square" anchor="t">
            <a:spAutoFit/>
          </a:bodyPr>
          <a:lstStyle/>
          <a:p>
            <a:pPr algn="l"/>
            <a:r>
              <a:rPr sz="3400" b="1">
                <a:solidFill>
                  <a:srgbClr val="111827"/>
                </a:solidFill>
                <a:latin typeface="Segoe UI"/>
              </a:rPr>
              <a:t>The coach</a:t>
            </a:r>
          </a:p>
        </p:txBody>
      </p:sp>
      <p:sp>
        <p:nvSpPr>
          <p:cNvPr id="4" name="TextBox 3"/>
          <p:cNvSpPr txBox="1"/>
          <p:nvPr/>
        </p:nvSpPr>
        <p:spPr>
          <a:xfrm>
            <a:off x="822960" y="1874519"/>
            <a:ext cx="10607040" cy="4023360"/>
          </a:xfrm>
          <a:prstGeom prst="rect">
            <a:avLst/>
          </a:prstGeom>
          <a:noFill/>
        </p:spPr>
        <p:txBody>
          <a:bodyPr wrap="square">
            <a:spAutoFit/>
          </a:bodyPr>
          <a:lstStyle/>
          <a:p>
            <a:pPr>
              <a:lnSpc>
                <a:spcPct val="112000"/>
              </a:lnSpc>
              <a:spcAft>
                <a:spcPts val="1800"/>
              </a:spcAft>
            </a:pPr>
            <a:r>
              <a:rPr sz="2200" b="1">
                <a:solidFill>
                  <a:srgbClr val="1D4ED8"/>
                </a:solidFill>
                <a:latin typeface="Segoe UI"/>
              </a:rPr>
              <a:t>•  </a:t>
            </a:r>
            <a:r>
              <a:rPr sz="2200" b="0">
                <a:solidFill>
                  <a:srgbClr val="111827"/>
                </a:solidFill>
                <a:latin typeface="Segoe UI"/>
              </a:rPr>
              <a:t>A teacher asks what to re-teach tomorrow.</a:t>
            </a:r>
          </a:p>
          <a:p>
            <a:pPr>
              <a:lnSpc>
                <a:spcPct val="112000"/>
              </a:lnSpc>
              <a:spcAft>
                <a:spcPts val="1800"/>
              </a:spcAft>
            </a:pPr>
            <a:r>
              <a:rPr sz="2200" b="1">
                <a:solidFill>
                  <a:srgbClr val="1D4ED8"/>
                </a:solidFill>
                <a:latin typeface="Segoe UI"/>
              </a:rPr>
              <a:t>•  </a:t>
            </a:r>
            <a:r>
              <a:rPr sz="2200" b="0">
                <a:solidFill>
                  <a:srgbClr val="111827"/>
                </a:solidFill>
                <a:latin typeface="Segoe UI"/>
              </a:rPr>
              <a:t>The coach reads her class data with five read-only tools.</a:t>
            </a:r>
          </a:p>
          <a:p>
            <a:pPr>
              <a:lnSpc>
                <a:spcPct val="112000"/>
              </a:lnSpc>
              <a:spcAft>
                <a:spcPts val="1800"/>
              </a:spcAft>
            </a:pPr>
            <a:r>
              <a:rPr sz="2200" b="1">
                <a:solidFill>
                  <a:srgbClr val="1D4ED8"/>
                </a:solidFill>
                <a:latin typeface="Segoe UI"/>
              </a:rPr>
              <a:t>•  </a:t>
            </a:r>
            <a:r>
              <a:rPr sz="2200" b="0">
                <a:solidFill>
                  <a:srgbClr val="111827"/>
                </a:solidFill>
                <a:latin typeface="Segoe UI"/>
              </a:rPr>
              <a:t>We tested it. An injection attack got refused.</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28016"/>
          </a:xfrm>
          <a:prstGeom prst="rect">
            <a:avLst/>
          </a:prstGeom>
          <a:solidFill>
            <a:srgbClr val="1D4ED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03504" y="502920"/>
            <a:ext cx="10972800" cy="868680"/>
          </a:xfrm>
          <a:prstGeom prst="rect">
            <a:avLst/>
          </a:prstGeom>
          <a:noFill/>
        </p:spPr>
        <p:txBody>
          <a:bodyPr wrap="square" anchor="t">
            <a:spAutoFit/>
          </a:bodyPr>
          <a:lstStyle/>
          <a:p>
            <a:pPr algn="l"/>
            <a:r>
              <a:rPr sz="3400" b="1">
                <a:solidFill>
                  <a:srgbClr val="111827"/>
                </a:solidFill>
                <a:latin typeface="Segoe UI"/>
              </a:rPr>
              <a:t>What this looks like</a:t>
            </a:r>
          </a:p>
        </p:txBody>
      </p:sp>
      <p:sp>
        <p:nvSpPr>
          <p:cNvPr id="4" name="Rounded Rectangle 3"/>
          <p:cNvSpPr/>
          <p:nvPr/>
        </p:nvSpPr>
        <p:spPr>
          <a:xfrm>
            <a:off x="603504" y="1737360"/>
            <a:ext cx="3429000" cy="2103120"/>
          </a:xfrm>
          <a:prstGeom prst="roundRect">
            <a:avLst/>
          </a:prstGeom>
          <a:solidFill>
            <a:srgbClr val="F1F5F9"/>
          </a:solidFill>
          <a:ln w="12700">
            <a:solidFill>
              <a:srgbClr val="D9E2EC"/>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500" b="0">
                <a:solidFill>
                  <a:srgbClr val="6B7280"/>
                </a:solidFill>
                <a:latin typeface="Segoe UI"/>
              </a:rPr>
              <a:t>[screenshot: student chat]</a:t>
            </a:r>
          </a:p>
        </p:txBody>
      </p:sp>
      <p:sp>
        <p:nvSpPr>
          <p:cNvPr id="5" name="Rounded Rectangle 4"/>
          <p:cNvSpPr/>
          <p:nvPr/>
        </p:nvSpPr>
        <p:spPr>
          <a:xfrm>
            <a:off x="4370832" y="1737360"/>
            <a:ext cx="3429000" cy="2103120"/>
          </a:xfrm>
          <a:prstGeom prst="roundRect">
            <a:avLst/>
          </a:prstGeom>
          <a:solidFill>
            <a:srgbClr val="F1F5F9"/>
          </a:solidFill>
          <a:ln w="12700">
            <a:solidFill>
              <a:srgbClr val="D9E2EC"/>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500" b="0">
                <a:solidFill>
                  <a:srgbClr val="6B7280"/>
                </a:solidFill>
                <a:latin typeface="Segoe UI"/>
              </a:rPr>
              <a:t>[screenshot: teacher dashboard]</a:t>
            </a:r>
          </a:p>
        </p:txBody>
      </p:sp>
      <p:sp>
        <p:nvSpPr>
          <p:cNvPr id="6" name="Rounded Rectangle 5"/>
          <p:cNvSpPr/>
          <p:nvPr/>
        </p:nvSpPr>
        <p:spPr>
          <a:xfrm>
            <a:off x="8138160" y="1737360"/>
            <a:ext cx="3429000" cy="2103120"/>
          </a:xfrm>
          <a:prstGeom prst="roundRect">
            <a:avLst/>
          </a:prstGeom>
          <a:solidFill>
            <a:srgbClr val="F1F5F9"/>
          </a:solidFill>
          <a:ln w="12700">
            <a:solidFill>
              <a:srgbClr val="D9E2EC"/>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500" b="0">
                <a:solidFill>
                  <a:srgbClr val="6B7280"/>
                </a:solidFill>
                <a:latin typeface="Segoe UI"/>
              </a:rPr>
              <a:t>[screenshot: coach with tool trace]</a:t>
            </a:r>
          </a:p>
        </p:txBody>
      </p:sp>
      <p:sp>
        <p:nvSpPr>
          <p:cNvPr id="7" name="TextBox 6"/>
          <p:cNvSpPr txBox="1"/>
          <p:nvPr/>
        </p:nvSpPr>
        <p:spPr>
          <a:xfrm>
            <a:off x="603504" y="4206240"/>
            <a:ext cx="10972800" cy="731520"/>
          </a:xfrm>
          <a:prstGeom prst="rect">
            <a:avLst/>
          </a:prstGeom>
          <a:noFill/>
        </p:spPr>
        <p:txBody>
          <a:bodyPr wrap="square" anchor="t">
            <a:spAutoFit/>
          </a:bodyPr>
          <a:lstStyle/>
          <a:p>
            <a:pPr algn="l"/>
            <a:r>
              <a:rPr sz="2800" b="1">
                <a:solidFill>
                  <a:srgbClr val="111827"/>
                </a:solidFill>
                <a:latin typeface="Segoe UI"/>
              </a:rPr>
              <a:t>“Clouds are made of cotton.”</a:t>
            </a:r>
          </a:p>
        </p:txBody>
      </p:sp>
      <p:sp>
        <p:nvSpPr>
          <p:cNvPr id="8" name="TextBox 7"/>
          <p:cNvSpPr txBox="1"/>
          <p:nvPr/>
        </p:nvSpPr>
        <p:spPr>
          <a:xfrm>
            <a:off x="603504" y="5029200"/>
            <a:ext cx="10972800" cy="457200"/>
          </a:xfrm>
          <a:prstGeom prst="rect">
            <a:avLst/>
          </a:prstGeom>
          <a:noFill/>
        </p:spPr>
        <p:txBody>
          <a:bodyPr wrap="square" anchor="t">
            <a:spAutoFit/>
          </a:bodyPr>
          <a:lstStyle/>
          <a:p>
            <a:pPr algn="l"/>
            <a:r>
              <a:rPr sz="1500" b="0">
                <a:solidFill>
                  <a:srgbClr val="6B7280"/>
                </a:solidFill>
                <a:latin typeface="Segoe UI"/>
              </a:rPr>
              <a:t>A real wrong idea from our concept data.</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28016"/>
          </a:xfrm>
          <a:prstGeom prst="rect">
            <a:avLst/>
          </a:prstGeom>
          <a:solidFill>
            <a:srgbClr val="1D4ED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03504" y="502920"/>
            <a:ext cx="10972800" cy="868680"/>
          </a:xfrm>
          <a:prstGeom prst="rect">
            <a:avLst/>
          </a:prstGeom>
          <a:noFill/>
        </p:spPr>
        <p:txBody>
          <a:bodyPr wrap="square" anchor="t">
            <a:spAutoFit/>
          </a:bodyPr>
          <a:lstStyle/>
          <a:p>
            <a:pPr algn="l"/>
            <a:r>
              <a:rPr sz="3400" b="1">
                <a:solidFill>
                  <a:srgbClr val="111827"/>
                </a:solidFill>
                <a:latin typeface="Segoe UI"/>
              </a:rPr>
              <a:t>What broke</a:t>
            </a:r>
          </a:p>
        </p:txBody>
      </p:sp>
      <p:sp>
        <p:nvSpPr>
          <p:cNvPr id="4" name="TextBox 3"/>
          <p:cNvSpPr txBox="1"/>
          <p:nvPr/>
        </p:nvSpPr>
        <p:spPr>
          <a:xfrm>
            <a:off x="822960" y="1828800"/>
            <a:ext cx="10607040" cy="4023360"/>
          </a:xfrm>
          <a:prstGeom prst="rect">
            <a:avLst/>
          </a:prstGeom>
          <a:noFill/>
        </p:spPr>
        <p:txBody>
          <a:bodyPr wrap="square">
            <a:spAutoFit/>
          </a:bodyPr>
          <a:lstStyle/>
          <a:p>
            <a:pPr>
              <a:lnSpc>
                <a:spcPct val="112000"/>
              </a:lnSpc>
              <a:spcAft>
                <a:spcPts val="2000"/>
              </a:spcAft>
            </a:pPr>
            <a:r>
              <a:rPr sz="2200" b="1">
                <a:solidFill>
                  <a:srgbClr val="1D4ED8"/>
                </a:solidFill>
                <a:latin typeface="Segoe UI"/>
              </a:rPr>
              <a:t>•  </a:t>
            </a:r>
            <a:r>
              <a:rPr sz="2200" b="0">
                <a:solidFill>
                  <a:srgbClr val="111827"/>
                </a:solidFill>
                <a:latin typeface="Segoe UI"/>
              </a:rPr>
              <a:t>We capped a test reply at 5 tokens.</a:t>
            </a:r>
          </a:p>
          <a:p>
            <a:pPr>
              <a:lnSpc>
                <a:spcPct val="112000"/>
              </a:lnSpc>
              <a:spcAft>
                <a:spcPts val="2000"/>
              </a:spcAft>
            </a:pPr>
            <a:r>
              <a:rPr sz="2200" b="1">
                <a:solidFill>
                  <a:srgbClr val="1D4ED8"/>
                </a:solidFill>
                <a:latin typeface="Segoe UI"/>
              </a:rPr>
              <a:t>•  </a:t>
            </a:r>
            <a:r>
              <a:rPr sz="2200" b="0">
                <a:solidFill>
                  <a:srgbClr val="111827"/>
                </a:solidFill>
                <a:latin typeface="Segoe UI"/>
              </a:rPr>
              <a:t>Reasoning models spent all 5 tokens thinking.</a:t>
            </a:r>
          </a:p>
          <a:p>
            <a:pPr>
              <a:lnSpc>
                <a:spcPct val="112000"/>
              </a:lnSpc>
              <a:spcAft>
                <a:spcPts val="2000"/>
              </a:spcAft>
            </a:pPr>
            <a:r>
              <a:rPr sz="2200" b="1">
                <a:solidFill>
                  <a:srgbClr val="1D4ED8"/>
                </a:solidFill>
                <a:latin typeface="Segoe UI"/>
              </a:rPr>
              <a:t>•  </a:t>
            </a:r>
            <a:r>
              <a:rPr sz="2200" b="0">
                <a:solidFill>
                  <a:srgbClr val="111827"/>
                </a:solidFill>
                <a:latin typeface="Segoe UI"/>
              </a:rPr>
              <a:t>We got empty text and thought the model was gone.</a:t>
            </a:r>
          </a:p>
        </p:txBody>
      </p:sp>
      <p:sp>
        <p:nvSpPr>
          <p:cNvPr id="5" name="TextBox 4"/>
          <p:cNvSpPr txBox="1"/>
          <p:nvPr/>
        </p:nvSpPr>
        <p:spPr>
          <a:xfrm>
            <a:off x="822960" y="4206240"/>
            <a:ext cx="10607040" cy="548640"/>
          </a:xfrm>
          <a:prstGeom prst="rect">
            <a:avLst/>
          </a:prstGeom>
          <a:noFill/>
        </p:spPr>
        <p:txBody>
          <a:bodyPr wrap="square" anchor="t">
            <a:spAutoFit/>
          </a:bodyPr>
          <a:lstStyle/>
          <a:p>
            <a:pPr algn="l"/>
            <a:r>
              <a:rPr sz="1600" b="0">
                <a:solidFill>
                  <a:srgbClr val="6B7280"/>
                </a:solidFill>
                <a:latin typeface="Segoe UI"/>
              </a:rPr>
              <a:t>[FILL IN: one moment from the day]</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28016"/>
          </a:xfrm>
          <a:prstGeom prst="rect">
            <a:avLst/>
          </a:prstGeom>
          <a:solidFill>
            <a:srgbClr val="1D4ED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03504" y="502920"/>
            <a:ext cx="10972800" cy="868680"/>
          </a:xfrm>
          <a:prstGeom prst="rect">
            <a:avLst/>
          </a:prstGeom>
          <a:noFill/>
        </p:spPr>
        <p:txBody>
          <a:bodyPr wrap="square" anchor="t">
            <a:spAutoFit/>
          </a:bodyPr>
          <a:lstStyle/>
          <a:p>
            <a:pPr algn="l"/>
            <a:r>
              <a:rPr sz="3400" b="1">
                <a:solidFill>
                  <a:srgbClr val="111827"/>
                </a:solidFill>
                <a:latin typeface="Segoe UI"/>
              </a:rPr>
              <a:t>What we won't claim</a:t>
            </a:r>
          </a:p>
        </p:txBody>
      </p:sp>
      <p:sp>
        <p:nvSpPr>
          <p:cNvPr id="4" name="TextBox 3"/>
          <p:cNvSpPr txBox="1"/>
          <p:nvPr/>
        </p:nvSpPr>
        <p:spPr>
          <a:xfrm>
            <a:off x="822960" y="1874519"/>
            <a:ext cx="10607040" cy="4023360"/>
          </a:xfrm>
          <a:prstGeom prst="rect">
            <a:avLst/>
          </a:prstGeom>
          <a:noFill/>
        </p:spPr>
        <p:txBody>
          <a:bodyPr wrap="square">
            <a:spAutoFit/>
          </a:bodyPr>
          <a:lstStyle/>
          <a:p>
            <a:pPr>
              <a:lnSpc>
                <a:spcPct val="112000"/>
              </a:lnSpc>
              <a:spcAft>
                <a:spcPts val="1800"/>
              </a:spcAft>
            </a:pPr>
            <a:r>
              <a:rPr sz="2200" b="1">
                <a:solidFill>
                  <a:srgbClr val="1D4ED8"/>
                </a:solidFill>
                <a:latin typeface="Segoe UI"/>
              </a:rPr>
              <a:t>•  </a:t>
            </a:r>
            <a:r>
              <a:rPr sz="2200" b="0">
                <a:solidFill>
                  <a:srgbClr val="111827"/>
                </a:solidFill>
                <a:latin typeface="Segoe UI"/>
              </a:rPr>
              <a:t>The PIN is classroom-grade, not exam-grade.</a:t>
            </a:r>
          </a:p>
          <a:p>
            <a:pPr>
              <a:lnSpc>
                <a:spcPct val="112000"/>
              </a:lnSpc>
              <a:spcAft>
                <a:spcPts val="1800"/>
              </a:spcAft>
            </a:pPr>
            <a:r>
              <a:rPr sz="2200" b="1">
                <a:solidFill>
                  <a:srgbClr val="1D4ED8"/>
                </a:solidFill>
                <a:latin typeface="Segoe UI"/>
              </a:rPr>
              <a:t>•  </a:t>
            </a:r>
            <a:r>
              <a:rPr sz="2200" b="0">
                <a:solidFill>
                  <a:srgbClr val="111827"/>
                </a:solidFill>
                <a:latin typeface="Segoe UI"/>
              </a:rPr>
              <a:t>No photo or PDF input. No offline mode.</a:t>
            </a:r>
          </a:p>
          <a:p>
            <a:pPr>
              <a:lnSpc>
                <a:spcPct val="112000"/>
              </a:lnSpc>
              <a:spcAft>
                <a:spcPts val="1800"/>
              </a:spcAft>
            </a:pPr>
            <a:r>
              <a:rPr sz="2200" b="1">
                <a:solidFill>
                  <a:srgbClr val="1D4ED8"/>
                </a:solidFill>
                <a:latin typeface="Segoe UI"/>
              </a:rPr>
              <a:t>•  </a:t>
            </a:r>
            <a:r>
              <a:rPr sz="2200" b="0">
                <a:solidFill>
                  <a:srgbClr val="111827"/>
                </a:solidFill>
                <a:latin typeface="Segoe UI"/>
              </a:rPr>
              <a:t>Our data is simulated, clearly marked.</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28016"/>
          </a:xfrm>
          <a:prstGeom prst="rect">
            <a:avLst/>
          </a:prstGeom>
          <a:solidFill>
            <a:srgbClr val="1D4ED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03504" y="502920"/>
            <a:ext cx="10972800" cy="868680"/>
          </a:xfrm>
          <a:prstGeom prst="rect">
            <a:avLst/>
          </a:prstGeom>
          <a:noFill/>
        </p:spPr>
        <p:txBody>
          <a:bodyPr wrap="square" anchor="t">
            <a:spAutoFit/>
          </a:bodyPr>
          <a:lstStyle/>
          <a:p>
            <a:pPr algn="l"/>
            <a:r>
              <a:rPr sz="3400" b="1">
                <a:solidFill>
                  <a:srgbClr val="111827"/>
                </a:solidFill>
                <a:latin typeface="Segoe UI"/>
              </a:rPr>
              <a:t>Who we are</a:t>
            </a:r>
          </a:p>
        </p:txBody>
      </p:sp>
      <p:sp>
        <p:nvSpPr>
          <p:cNvPr id="4" name="TextBox 3"/>
          <p:cNvSpPr txBox="1"/>
          <p:nvPr/>
        </p:nvSpPr>
        <p:spPr>
          <a:xfrm>
            <a:off x="822960" y="1965960"/>
            <a:ext cx="7498079" cy="548640"/>
          </a:xfrm>
          <a:prstGeom prst="rect">
            <a:avLst/>
          </a:prstGeom>
          <a:noFill/>
        </p:spPr>
        <p:txBody>
          <a:bodyPr wrap="square" anchor="t">
            <a:spAutoFit/>
          </a:bodyPr>
          <a:lstStyle/>
          <a:p>
            <a:pPr algn="l"/>
            <a:r>
              <a:rPr sz="2200" b="1">
                <a:solidFill>
                  <a:srgbClr val="111827"/>
                </a:solidFill>
                <a:latin typeface="Segoe UI"/>
              </a:rPr>
              <a:t>[FILL IN: name, college, one line]</a:t>
            </a:r>
          </a:p>
        </p:txBody>
      </p:sp>
      <p:sp>
        <p:nvSpPr>
          <p:cNvPr id="5" name="TextBox 4"/>
          <p:cNvSpPr txBox="1"/>
          <p:nvPr/>
        </p:nvSpPr>
        <p:spPr>
          <a:xfrm>
            <a:off x="822960" y="2743200"/>
            <a:ext cx="7498079" cy="548640"/>
          </a:xfrm>
          <a:prstGeom prst="rect">
            <a:avLst/>
          </a:prstGeom>
          <a:noFill/>
        </p:spPr>
        <p:txBody>
          <a:bodyPr wrap="square" anchor="t">
            <a:spAutoFit/>
          </a:bodyPr>
          <a:lstStyle/>
          <a:p>
            <a:pPr algn="l"/>
            <a:r>
              <a:rPr sz="2200" b="1">
                <a:solidFill>
                  <a:srgbClr val="111827"/>
                </a:solidFill>
                <a:latin typeface="Segoe UI"/>
              </a:rPr>
              <a:t>[FILL IN: name, college, one line]</a:t>
            </a:r>
          </a:p>
        </p:txBody>
      </p:sp>
      <p:sp>
        <p:nvSpPr>
          <p:cNvPr id="6" name="Rounded Rectangle 5"/>
          <p:cNvSpPr/>
          <p:nvPr/>
        </p:nvSpPr>
        <p:spPr>
          <a:xfrm>
            <a:off x="8595360" y="1965960"/>
            <a:ext cx="2971800" cy="2743200"/>
          </a:xfrm>
          <a:prstGeom prst="roundRect">
            <a:avLst/>
          </a:prstGeom>
          <a:solidFill>
            <a:srgbClr val="F1F5F9"/>
          </a:solidFill>
          <a:ln w="12700">
            <a:solidFill>
              <a:srgbClr val="D9E2EC"/>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500" b="0">
                <a:solidFill>
                  <a:srgbClr val="6B7280"/>
                </a:solidFill>
                <a:latin typeface="Segoe UI"/>
              </a:rPr>
              <a:t>[team photo]</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8</Slides>
  <Notes>8</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8</vt:i4>
      </vt:variant>
    </vt:vector>
  </HeadingPairs>
  <TitlesOfParts>
    <vt:vector size="11" baseType="lpstr">
      <vt:lpstr>Arial</vt:lpstr>
      <vt:lpstr>Calibri</vt:lpstr>
      <vt:lpstr>Office Theme</vt:lpstr>
      <vt:lpstr>Slide 1</vt:lpstr>
      <vt:lpstr>Slide 2</vt:lpstr>
      <vt:lpstr>Slide 3</vt:lpstr>
      <vt:lpstr>Slide 4</vt:lpstr>
      <vt:lpstr>Slide 5</vt:lpstr>
      <vt:lpstr>Slide 6</vt:lpstr>
      <vt:lpstr>Slide 7</vt:lpstr>
      <vt:lpstr>Slide 8</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AI Practice Companion for Indian Classrooms</dc:title>
  <dc:subject>PptxGenJS Presentation</dc:subject>
  <dc:creator>PptxGenJS</dc:creator>
  <cp:lastModifiedBy>PptxGenJS</cp:lastModifiedBy>
  <cp:revision>1</cp:revision>
  <dcterms:created xsi:type="dcterms:W3CDTF">2026-10-10T13:59:24Z</dcterms:created>
  <dcterms:modified xsi:type="dcterms:W3CDTF">2026-10-10T13:59:24Z</dcterms:modified>
</cp:coreProperties>
</file>